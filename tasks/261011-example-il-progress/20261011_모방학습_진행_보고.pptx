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y="68580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0" roundtripDataSignature="AMtx7min/rVjmUmMHsZuiS0dxXj2XCPfj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1371600" y="1143000"/>
            <a:ext cx="41148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가상 예제다. 모든 수치는 sources/의 합성 자료이며 실제 실험 결과가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네 조건 모두 같은 시연 200개와 같은 평가 환경을 사용했다고 가정한 합성 설정이다.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청크로 예측하면 한 번의 추론으로 k단계 행동을 낸다. 수식은 예제용 단순화다.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조건별 40회라 차이를 단정하지 않는다. ACT-8과 ACT-4의 차이는 4회다.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가설은 아직 근거가 없다. 다음 실험에서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실패 장면 사진은 연구자가 넣을 자리다. 빌드는 요청 상자로 표시한다.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추가 수집량과 시행 수는 예제용 계획이다.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랩미팅에서 결정받을 질문으로 끝낸다.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>
  <p:cSld name="제목 슬라이드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/>
          <p:nvPr/>
        </p:nvSpPr>
        <p:spPr>
          <a:xfrm>
            <a:off x="0" y="2008029"/>
            <a:ext cx="9144000" cy="1583848"/>
          </a:xfrm>
          <a:prstGeom prst="rect">
            <a:avLst/>
          </a:prstGeom>
          <a:solidFill>
            <a:srgbClr val="053F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7"/>
          <p:cNvSpPr/>
          <p:nvPr/>
        </p:nvSpPr>
        <p:spPr>
          <a:xfrm>
            <a:off x="0" y="3586925"/>
            <a:ext cx="9144001" cy="1705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" name="Google Shape;18;p7"/>
          <p:cNvSpPr txBox="1"/>
          <p:nvPr>
            <p:ph type="ctrTitle"/>
          </p:nvPr>
        </p:nvSpPr>
        <p:spPr>
          <a:xfrm>
            <a:off x="415636" y="2137438"/>
            <a:ext cx="8312728" cy="8368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algun Gothic"/>
              <a:buNone/>
              <a:defRPr b="1"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"/>
          <p:cNvSpPr txBox="1"/>
          <p:nvPr>
            <p:ph idx="1" type="subTitle"/>
          </p:nvPr>
        </p:nvSpPr>
        <p:spPr>
          <a:xfrm>
            <a:off x="422910" y="3003157"/>
            <a:ext cx="8298180" cy="52757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00"/>
              </a:buClr>
              <a:buSzPts val="2400"/>
              <a:buNone/>
              <a:defRPr b="1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" name="Google Shape;20;p7"/>
          <p:cNvSpPr/>
          <p:nvPr/>
        </p:nvSpPr>
        <p:spPr>
          <a:xfrm>
            <a:off x="6504495" y="1"/>
            <a:ext cx="2639505" cy="94268"/>
          </a:xfrm>
          <a:prstGeom prst="rect">
            <a:avLst/>
          </a:prstGeom>
          <a:solidFill>
            <a:srgbClr val="C0D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1" name="Google Shape;21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57187" y="5901831"/>
            <a:ext cx="1315679" cy="91892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7"/>
          <p:cNvSpPr/>
          <p:nvPr/>
        </p:nvSpPr>
        <p:spPr>
          <a:xfrm>
            <a:off x="0" y="0"/>
            <a:ext cx="6504495" cy="26866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Google Shape;23;p7"/>
          <p:cNvSpPr txBox="1"/>
          <p:nvPr>
            <p:ph idx="2" type="body"/>
          </p:nvPr>
        </p:nvSpPr>
        <p:spPr>
          <a:xfrm>
            <a:off x="2013743" y="3982062"/>
            <a:ext cx="5130800" cy="563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3" type="body"/>
          </p:nvPr>
        </p:nvSpPr>
        <p:spPr>
          <a:xfrm>
            <a:off x="1671637" y="4714958"/>
            <a:ext cx="5815013" cy="81637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어둠, 불꽃놀이이(가) 표시된 사진&#10;&#10;AI가 생성한 콘텐츠는 부정확할 수 있습니다." id="25" name="Google Shape;25;p7"/>
          <p:cNvPicPr preferRelativeResize="0"/>
          <p:nvPr/>
        </p:nvPicPr>
        <p:blipFill rotWithShape="1">
          <a:blip r:embed="rId3">
            <a:alphaModFix/>
          </a:blip>
          <a:srcRect b="27427" l="27504" r="29740" t="27491"/>
          <a:stretch/>
        </p:blipFill>
        <p:spPr>
          <a:xfrm>
            <a:off x="7717715" y="5936043"/>
            <a:ext cx="1152089" cy="850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7"/>
          <p:cNvSpPr txBox="1"/>
          <p:nvPr>
            <p:ph idx="4" type="body"/>
          </p:nvPr>
        </p:nvSpPr>
        <p:spPr>
          <a:xfrm>
            <a:off x="73944" y="43254"/>
            <a:ext cx="4070256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indent="-3048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3048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indent="-3048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제목 및 내용">
  <p:cSld name="1_제목 및 내용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/>
          <p:nvPr>
            <p:ph idx="1" type="body"/>
          </p:nvPr>
        </p:nvSpPr>
        <p:spPr>
          <a:xfrm>
            <a:off x="2165448" y="130340"/>
            <a:ext cx="6763398" cy="6597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  <a:defRPr sz="2400">
                <a:latin typeface="Arial"/>
                <a:ea typeface="Arial"/>
                <a:cs typeface="Arial"/>
                <a:sym typeface="Arial"/>
              </a:defRPr>
            </a:lvl1pPr>
            <a:lvl2pPr indent="-355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8"/>
          <p:cNvSpPr/>
          <p:nvPr/>
        </p:nvSpPr>
        <p:spPr>
          <a:xfrm>
            <a:off x="-1" y="0"/>
            <a:ext cx="1924425" cy="6858000"/>
          </a:xfrm>
          <a:prstGeom prst="rect">
            <a:avLst/>
          </a:prstGeom>
          <a:gradFill>
            <a:gsLst>
              <a:gs pos="0">
                <a:srgbClr val="0070C0"/>
              </a:gs>
              <a:gs pos="70000">
                <a:srgbClr val="0070C0">
                  <a:alpha val="90196"/>
                </a:srgbClr>
              </a:gs>
              <a:gs pos="100000">
                <a:srgbClr val="0070C0">
                  <a:alpha val="74902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" name="Google Shape;30;p8"/>
          <p:cNvSpPr/>
          <p:nvPr/>
        </p:nvSpPr>
        <p:spPr>
          <a:xfrm>
            <a:off x="95313" y="3025913"/>
            <a:ext cx="1638155" cy="20321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0800" rotWithShape="0" algn="t" dir="5400000" dist="254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Google Shape;31;p8"/>
          <p:cNvSpPr/>
          <p:nvPr/>
        </p:nvSpPr>
        <p:spPr>
          <a:xfrm>
            <a:off x="95313" y="3811766"/>
            <a:ext cx="1638155" cy="20321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0800" rotWithShape="0" algn="t" dir="5400000" dist="254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" name="Google Shape;32;p8"/>
          <p:cNvSpPr/>
          <p:nvPr/>
        </p:nvSpPr>
        <p:spPr>
          <a:xfrm>
            <a:off x="39585" y="3167390"/>
            <a:ext cx="1749611" cy="523220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Contents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제목 및 내용">
  <p:cSld name="2_제목 및 내용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/>
          <p:nvPr/>
        </p:nvSpPr>
        <p:spPr>
          <a:xfrm>
            <a:off x="0" y="2639987"/>
            <a:ext cx="9144000" cy="1308965"/>
          </a:xfrm>
          <a:prstGeom prst="rect">
            <a:avLst/>
          </a:prstGeom>
          <a:solidFill>
            <a:srgbClr val="053F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br>
              <a:rPr b="1" i="0" lang="en-US" sz="36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1" i="0" sz="36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9"/>
          <p:cNvSpPr/>
          <p:nvPr/>
        </p:nvSpPr>
        <p:spPr>
          <a:xfrm>
            <a:off x="0" y="3951490"/>
            <a:ext cx="9144001" cy="1705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36;p9"/>
          <p:cNvSpPr txBox="1"/>
          <p:nvPr>
            <p:ph idx="1" type="subTitle"/>
          </p:nvPr>
        </p:nvSpPr>
        <p:spPr>
          <a:xfrm>
            <a:off x="422910" y="3395811"/>
            <a:ext cx="8298180" cy="3603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00"/>
              </a:buClr>
              <a:buSzPts val="2400"/>
              <a:buNone/>
              <a:defRPr b="1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7" name="Google Shape;37;p9"/>
          <p:cNvSpPr txBox="1"/>
          <p:nvPr>
            <p:ph type="ctrTitle"/>
          </p:nvPr>
        </p:nvSpPr>
        <p:spPr>
          <a:xfrm>
            <a:off x="415636" y="2861201"/>
            <a:ext cx="8312728" cy="519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algun Gothic"/>
              <a:buNone/>
              <a:defRPr b="1"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" name="Google Shape;40;p10"/>
          <p:cNvSpPr txBox="1"/>
          <p:nvPr>
            <p:ph idx="1" type="body"/>
          </p:nvPr>
        </p:nvSpPr>
        <p:spPr>
          <a:xfrm>
            <a:off x="300789" y="903151"/>
            <a:ext cx="7886700" cy="2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▪"/>
              <a:defRPr sz="2400"/>
            </a:lvl1pPr>
            <a:lvl2pPr indent="-355600" lvl="1" marL="914400" algn="l">
              <a:lnSpc>
                <a:spcPct val="12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28650" y="95107"/>
            <a:ext cx="1697300" cy="51106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 preserve="1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7"/>
          <p:cNvSpPr/>
          <p:nvPr/>
        </p:nvSpPr>
        <p:spPr>
          <a:xfrm>
            <a:off x="0" y="2008029"/>
            <a:ext cx="9144000" cy="1583848"/>
          </a:xfrm>
          <a:prstGeom prst="rect">
            <a:avLst/>
          </a:prstGeom>
          <a:solidFill>
            <a:srgbClr val="053F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1" i="0" sz="28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7"/>
          <p:cNvSpPr/>
          <p:nvPr/>
        </p:nvSpPr>
        <p:spPr>
          <a:xfrm>
            <a:off x="0" y="3586925"/>
            <a:ext cx="9144001" cy="1705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" name="Google Shape;18;p7"/>
          <p:cNvSpPr txBox="1"/>
          <p:nvPr>
            <p:ph type="ctrTitle"/>
          </p:nvPr>
        </p:nvSpPr>
        <p:spPr>
          <a:xfrm>
            <a:off x="415636" y="2137438"/>
            <a:ext cx="8312728" cy="83683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algun Gothic"/>
              <a:buNone/>
              <a:defRPr b="1"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7"/>
          <p:cNvSpPr txBox="1"/>
          <p:nvPr>
            <p:ph idx="1" type="subTitle"/>
          </p:nvPr>
        </p:nvSpPr>
        <p:spPr>
          <a:xfrm>
            <a:off x="422910" y="3003157"/>
            <a:ext cx="8298180" cy="52757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00"/>
              </a:buClr>
              <a:buSzPts val="2400"/>
              <a:buNone/>
              <a:defRPr b="1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0" name="Google Shape;20;p7"/>
          <p:cNvSpPr/>
          <p:nvPr/>
        </p:nvSpPr>
        <p:spPr>
          <a:xfrm>
            <a:off x="6504495" y="1"/>
            <a:ext cx="2639505" cy="94268"/>
          </a:xfrm>
          <a:prstGeom prst="rect">
            <a:avLst/>
          </a:prstGeom>
          <a:solidFill>
            <a:srgbClr val="C0D5E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1" name="Google Shape;21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57187" y="5901831"/>
            <a:ext cx="1315679" cy="918924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7"/>
          <p:cNvSpPr/>
          <p:nvPr/>
        </p:nvSpPr>
        <p:spPr>
          <a:xfrm>
            <a:off x="0" y="0"/>
            <a:ext cx="6504495" cy="268665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1" i="0" sz="12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Google Shape;23;p7"/>
          <p:cNvSpPr txBox="1"/>
          <p:nvPr>
            <p:ph idx="2" type="body"/>
          </p:nvPr>
        </p:nvSpPr>
        <p:spPr>
          <a:xfrm>
            <a:off x="2013743" y="3982062"/>
            <a:ext cx="5130800" cy="5633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7"/>
          <p:cNvSpPr txBox="1"/>
          <p:nvPr>
            <p:ph idx="3" type="body"/>
          </p:nvPr>
        </p:nvSpPr>
        <p:spPr>
          <a:xfrm>
            <a:off x="1671637" y="4714958"/>
            <a:ext cx="5815013" cy="81637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어둠, 불꽃놀이이(가) 표시된 사진&#10;&#10;AI가 생성한 콘텐츠는 부정확할 수 있습니다." id="25" name="Google Shape;25;p7"/>
          <p:cNvPicPr preferRelativeResize="0"/>
          <p:nvPr/>
        </p:nvPicPr>
        <p:blipFill rotWithShape="1">
          <a:blip r:embed="rId3">
            <a:alphaModFix/>
          </a:blip>
          <a:srcRect b="27427" l="27504" r="29740" t="27491"/>
          <a:stretch/>
        </p:blipFill>
        <p:spPr>
          <a:xfrm>
            <a:off x="7717715" y="5936043"/>
            <a:ext cx="1152089" cy="850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7"/>
          <p:cNvSpPr txBox="1"/>
          <p:nvPr>
            <p:ph idx="4" type="body"/>
          </p:nvPr>
        </p:nvSpPr>
        <p:spPr>
          <a:xfrm>
            <a:off x="73944" y="43254"/>
            <a:ext cx="4070256" cy="1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b="1" sz="1200">
                <a:solidFill>
                  <a:schemeClr val="lt1"/>
                </a:solidFill>
              </a:defRPr>
            </a:lvl1pPr>
            <a:lvl2pPr indent="-3048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2pPr>
            <a:lvl3pPr indent="-3048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3pPr>
            <a:lvl4pPr indent="-3048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4pPr>
            <a:lvl5pPr indent="-3048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제목 및 내용" type="secHead" preserve="1">
  <p:cSld name="Section Header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9"/>
          <p:cNvSpPr/>
          <p:nvPr/>
        </p:nvSpPr>
        <p:spPr>
          <a:xfrm>
            <a:off x="0" y="2639987"/>
            <a:ext cx="9144000" cy="1308965"/>
          </a:xfrm>
          <a:prstGeom prst="rect">
            <a:avLst/>
          </a:prstGeom>
          <a:solidFill>
            <a:srgbClr val="053F9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br>
              <a:rPr b="1" i="0" lang="en-US" sz="36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b="1" i="0" sz="3600" u="none" cap="none" strike="noStrik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9"/>
          <p:cNvSpPr/>
          <p:nvPr/>
        </p:nvSpPr>
        <p:spPr>
          <a:xfrm>
            <a:off x="0" y="3951490"/>
            <a:ext cx="9144001" cy="170519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6" name="Google Shape;36;p9"/>
          <p:cNvSpPr txBox="1"/>
          <p:nvPr>
            <p:ph idx="1" type="subTitle"/>
          </p:nvPr>
        </p:nvSpPr>
        <p:spPr>
          <a:xfrm>
            <a:off x="422910" y="3395811"/>
            <a:ext cx="8298180" cy="3603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FFFF00"/>
              </a:buClr>
              <a:buSzPts val="2400"/>
              <a:buNone/>
              <a:defRPr b="1" sz="24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415636" y="2861201"/>
            <a:ext cx="8312728" cy="51961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Malgun Gothic"/>
              <a:buNone/>
              <a:defRPr b="1" sz="3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Title and Conte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8540496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4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Two Content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4160520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2" name="RVLAB Content 2"/>
          <p:cNvSpPr/>
          <p:nvPr>
            <p:ph idx="2"/>
          </p:nvPr>
        </p:nvSpPr>
        <p:spPr>
          <a:xfrm>
            <a:off x="4681728" y="905256"/>
            <a:ext cx="4160520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Comparis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4160520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2" name="RVLAB Content 2"/>
          <p:cNvSpPr/>
          <p:nvPr>
            <p:ph idx="2"/>
          </p:nvPr>
        </p:nvSpPr>
        <p:spPr>
          <a:xfrm>
            <a:off x="4681728" y="905256"/>
            <a:ext cx="4160520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Content with Caption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8540496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4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Blank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RVLAB Figure Grid 3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2700528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2" name="RVLAB Content 2"/>
          <p:cNvSpPr/>
          <p:nvPr>
            <p:ph idx="2"/>
          </p:nvPr>
        </p:nvSpPr>
        <p:spPr>
          <a:xfrm>
            <a:off x="3221736" y="905256"/>
            <a:ext cx="2700528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3" name="RVLAB Content 3"/>
          <p:cNvSpPr/>
          <p:nvPr>
            <p:ph idx="3"/>
          </p:nvPr>
        </p:nvSpPr>
        <p:spPr>
          <a:xfrm>
            <a:off x="6141720" y="905256"/>
            <a:ext cx="2700528" cy="55138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 preserve="1">
  <p:cSld name="RVLAB Figure Grid 4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0"/>
          <p:cNvSpPr/>
          <p:nvPr/>
        </p:nvSpPr>
        <p:spPr>
          <a:xfrm>
            <a:off x="0" y="6617261"/>
            <a:ext cx="9144000" cy="244241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Google Shape;41;p10"/>
          <p:cNvSpPr/>
          <p:nvPr/>
        </p:nvSpPr>
        <p:spPr>
          <a:xfrm>
            <a:off x="778933" y="325154"/>
            <a:ext cx="8365066" cy="45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206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2" name="Google Shape;42;p10"/>
          <p:cNvSpPr/>
          <p:nvPr/>
        </p:nvSpPr>
        <p:spPr>
          <a:xfrm flipH="1" rot="5400000">
            <a:off x="138363" y="47224"/>
            <a:ext cx="324853" cy="601578"/>
          </a:xfrm>
          <a:prstGeom prst="flowChartManualInput">
            <a:avLst/>
          </a:prstGeom>
          <a:gradFill>
            <a:gsLst>
              <a:gs pos="0">
                <a:srgbClr val="0070C0"/>
              </a:gs>
              <a:gs pos="50000">
                <a:srgbClr val="0070C0">
                  <a:alpha val="70196"/>
                </a:srgbClr>
              </a:gs>
              <a:gs pos="100000">
                <a:srgbClr val="0070C0">
                  <a:alpha val="50196"/>
                </a:srgbClr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Google Shape;43;p10"/>
          <p:cNvSpPr txBox="1"/>
          <p:nvPr>
            <p:ph type="title"/>
          </p:nvPr>
        </p:nvSpPr>
        <p:spPr>
          <a:xfrm>
            <a:off x="630936" y="91440"/>
            <a:ext cx="3136392" cy="51206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Malgun Gothic"/>
              <a:buNone/>
              <a:defRPr b="1"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3543300" y="6626022"/>
            <a:ext cx="20574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1200" u="none" cap="none" strike="noStrike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0"/>
          <p:cNvSpPr txBox="1"/>
          <p:nvPr>
            <p:ph idx="11" type="ftr"/>
          </p:nvPr>
        </p:nvSpPr>
        <p:spPr>
          <a:xfrm>
            <a:off x="6006855" y="6626022"/>
            <a:ext cx="3086100" cy="22671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RVLAB Content 1"/>
          <p:cNvSpPr/>
          <p:nvPr>
            <p:ph idx="1"/>
          </p:nvPr>
        </p:nvSpPr>
        <p:spPr>
          <a:xfrm>
            <a:off x="301752" y="905256"/>
            <a:ext cx="4160520" cy="26471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2" name="RVLAB Content 2"/>
          <p:cNvSpPr/>
          <p:nvPr>
            <p:ph idx="2"/>
          </p:nvPr>
        </p:nvSpPr>
        <p:spPr>
          <a:xfrm>
            <a:off x="4681728" y="905256"/>
            <a:ext cx="4160520" cy="26471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3" name="RVLAB Content 3"/>
          <p:cNvSpPr/>
          <p:nvPr>
            <p:ph idx="3"/>
          </p:nvPr>
        </p:nvSpPr>
        <p:spPr>
          <a:xfrm>
            <a:off x="301752" y="3771900"/>
            <a:ext cx="4160520" cy="26471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  <p:sp>
        <p:nvSpPr>
          <p:cNvPr id="104" name="RVLAB Content 4"/>
          <p:cNvSpPr/>
          <p:nvPr>
            <p:ph idx="4"/>
          </p:nvPr>
        </p:nvSpPr>
        <p:spPr>
          <a:xfrm>
            <a:off x="4681728" y="3771900"/>
            <a:ext cx="4160520" cy="26471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0800">
            <a:noAutofit/>
          </a:bodyPr>
          <a:lstStyle>
            <a:lvl1pPr algn="l" marL="228600" indent="-152400">
              <a:lnSpc>
                <a:spcPct val="100000"/>
              </a:lnSpc>
              <a:spcAft>
                <a:spcPts val="1000"/>
              </a:spcAft>
              <a:buChar char="▪"/>
              <a:defRPr sz="2000">
                <a:solidFill>
                  <a:srgbClr val="000000"/>
                </a:solidFill>
                <a:latin typeface="Arial"/>
                <a:ea typeface="Malgun Gothic"/>
              </a:defRPr>
            </a:lvl1pPr>
            <a:lvl2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2pPr>
            <a:lvl3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3pPr>
            <a:lvl4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4pPr>
            <a:lvl5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5pPr>
            <a:lvl6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6pPr>
            <a:lvl7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7pPr>
            <a:lvl8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8pPr>
            <a:lvl9pPr algn="l" marL="457200" indent="-152400">
              <a:lnSpc>
                <a:spcPct val="100000"/>
              </a:lnSpc>
              <a:spcAft>
                <a:spcPts val="1000"/>
              </a:spcAft>
              <a:buChar char="•"/>
              <a:defRPr sz="1800">
                <a:solidFill>
                  <a:srgbClr val="000000"/>
                </a:solidFill>
                <a:latin typeface="Arial"/>
                <a:ea typeface="Malgun Gothic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vlabLayout10" Type="http://schemas.openxmlformats.org/officeDocument/2006/relationships/slideLayout" Target="../slideLayouts/slideLayout10.xml"/><Relationship Id="rvlabLayout11" Type="http://schemas.openxmlformats.org/officeDocument/2006/relationships/slideLayout" Target="../slideLayouts/slideLayout11.xml"/><Relationship Id="rvlabLayout12" Type="http://schemas.openxmlformats.org/officeDocument/2006/relationships/slideLayout" Target="../slideLayouts/slideLayout12.xml"/><Relationship Id="rvlabLayout13" Type="http://schemas.openxmlformats.org/officeDocument/2006/relationships/slideLayout" Target="../slideLayouts/slideLayout13.xml"/><Relationship Id="rvlabLayout5" Type="http://schemas.openxmlformats.org/officeDocument/2006/relationships/slideLayout" Target="../slideLayouts/slideLayout5.xml"/><Relationship Id="rvlabLayout6" Type="http://schemas.openxmlformats.org/officeDocument/2006/relationships/slideLayout" Target="../slideLayouts/slideLayout6.xml"/><Relationship Id="rvlabLayout7" Type="http://schemas.openxmlformats.org/officeDocument/2006/relationships/slideLayout" Target="../slideLayouts/slideLayout7.xml"/><Relationship Id="rvlabLayout8" Type="http://schemas.openxmlformats.org/officeDocument/2006/relationships/slideLayout" Target="../slideLayouts/slideLayout8.xml"/><Relationship Id="rvlabLayout9" Type="http://schemas.openxmlformats.org/officeDocument/2006/relationships/slideLayout" Target="../slideLayouts/slideLayout9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"/>
          <p:cNvSpPr txBox="1"/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b="0" i="0" sz="4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6"/>
          <p:cNvSpPr txBox="1"/>
          <p:nvPr>
            <p:ph idx="1" type="body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2" name="Google Shape;12;p6"/>
          <p:cNvSpPr txBox="1"/>
          <p:nvPr>
            <p:ph idx="10" type="dt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3" name="Google Shape;13;p6"/>
          <p:cNvSpPr txBox="1"/>
          <p:nvPr>
            <p:ph idx="11" type="ftr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/>
        </p:txBody>
      </p:sp>
      <p:sp>
        <p:nvSpPr>
          <p:cNvPr id="14" name="Google Shape;14;p6"/>
          <p:cNvSpPr txBox="1"/>
          <p:nvPr>
            <p:ph idx="12" type="sldNum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vlabLayout5"/>
    <p:sldLayoutId id="2147483654" r:id="rvlabLayout6"/>
    <p:sldLayoutId id="2147483655" r:id="rvlabLayout7"/>
    <p:sldLayoutId id="2147483656" r:id="rvlabLayout8"/>
    <p:sldLayoutId id="2147483657" r:id="rvlabLayout9"/>
    <p:sldLayoutId id="2147483658" r:id="rvlabLayout10"/>
    <p:sldLayoutId id="2147483659" r:id="rvlabLayout11"/>
    <p:sldLayoutId id="2147483660" r:id="rvlabLayout12"/>
    <p:sldLayoutId id="2147483661" r:id="rvlabLayout1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모방학습 진행 보고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행동 청크 길이 비교 · 가상 예제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홍길동 (Gildong Hong)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경기대학교 창의공과대학 전자공학과 N학년</a:t>
            </a:r>
          </a:p>
          <a:p>
            <a:r>
              <a:t>Robotics and Vision Lab Robot Team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발표일시 : 2026.10.11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r>
              <a:rPr b="1"/>
              <a:t>Chapter 1: 지난 미팅 이후</a:t>
            </a:r>
          </a:p>
          <a:p>
            <a:pPr lvl="1"/>
            <a:r>
              <a:rPr b="0"/>
              <a:t>진행 목표</a:t>
            </a:r>
          </a:p>
          <a:p>
            <a:pPr/>
            <a:r>
              <a:rPr b="1"/>
              <a:t>Chapter 2: 실험 설정</a:t>
            </a:r>
          </a:p>
          <a:p>
            <a:pPr lvl="1"/>
            <a:r>
              <a:rPr b="0"/>
              <a:t>과제와 데이터</a:t>
            </a:r>
          </a:p>
          <a:p>
            <a:pPr lvl="1"/>
            <a:r>
              <a:rPr b="0"/>
              <a:t>학습 목표</a:t>
            </a:r>
          </a:p>
          <a:p>
            <a:pPr/>
            <a:r>
              <a:rPr b="1"/>
              <a:t>Chapter 3: 결과</a:t>
            </a:r>
          </a:p>
          <a:p>
            <a:pPr lvl="1"/>
            <a:r>
              <a:rPr b="0"/>
              <a:t>성공률</a:t>
            </a:r>
          </a:p>
          <a:p>
            <a:pPr lvl="1"/>
            <a:r>
              <a:rPr b="0"/>
              <a:t>실패 분석</a:t>
            </a:r>
          </a:p>
          <a:p>
            <a:pPr/>
            <a:r>
              <a:rPr b="1"/>
              <a:t>Chapter 4: 다음 계획</a:t>
            </a:r>
          </a:p>
          <a:p>
            <a:pPr lvl="1"/>
            <a:r>
              <a:rPr b="0"/>
              <a:t>다음 실험</a:t>
            </a:r>
          </a:p>
          <a:p>
            <a:pPr lvl="1"/>
            <a:r>
              <a:rPr b="0"/>
              <a:t>논의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Since Last Meeting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지난 미팅 이후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진행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지난 피드백에 따라 행동 청크 길이부터 비교했다</a:t>
            </a:r>
          </a:p>
        </p:txBody>
      </p:sp>
      <p:sp xmlns:a14="http://schemas.microsoft.com/office/drawing/2010/main">
        <p:nvSpPr>
          <p:cNvPr id="4" name="RVLAB content"/>
          <p:cNvSpPr/>
          <p:nvPr/>
        </p:nvSpPr>
        <p:spPr>
          <a:xfrm>
            <a:off x="530352" y="1493520"/>
            <a:ext cx="8311896" cy="1386840"/>
          </a:xfrm>
        </p:spPr>
        <p:txBody>
          <a:bodyPr wrap="square" tIns="50800" lIns="0" rIns="0" bIns="0">
            <a:noAutofit/>
          </a:bodyPr>
          <a:lstStyle/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지난 피드백: 성공률보다 실패 원인을 먼저 볼 것</a:t>
            </a:r>
          </a:p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이번 목표: 청크 길이 </a:t>
            </a:r>
            <a14:m>
              <m:oMath xmlns:m="http://schemas.openxmlformats.org/officeDocument/2006/math">
                <m:r>
                  <m:t>k</m:t>
                </m:r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별 성공률과 실패 유형 확인</a:t>
            </a:r>
          </a:p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범위: 합성 pick-and-place 과제 1개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실험 설정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과제와 데이터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시연 200개로 학습하고 조건마다 40회 평가했다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035040"/>
            <a:ext cx="8311896" cy="384048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출처: sources/eval.csv (합성 자료)</a:t>
            </a:r>
          </a:p>
        </p:txBody>
      </p:sp>
      <p:graphicFrame>
        <p:nvGraphicFramePr>
          <p:cNvPr id="5" name="RVLAB content"/>
          <p:cNvGraphicFramePr>
            <a:graphicFrameLocks noGrp="1"/>
          </p:cNvGraphicFramePr>
          <p:nvPr/>
        </p:nvGraphicFramePr>
        <p:xfrm>
          <a:off x="530352" y="1493520"/>
          <a:ext cx="831189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7974"/>
                <a:gridCol w="2077974"/>
                <a:gridCol w="2077974"/>
                <a:gridCol w="2077974"/>
              </a:tblGrid>
              <a:tr h="475488"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Liberation Sans"/>
                          <a:ea typeface="Noto Sans CJK KR"/>
                        </a:rPr>
                        <a:t>조건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0070C0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Liberation Sans"/>
                          <a:ea typeface="Noto Sans CJK KR"/>
                        </a:rPr>
                        <a:t>청크 길이 k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0070C0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Liberation Sans"/>
                          <a:ea typeface="Noto Sans CJK KR"/>
                        </a:rPr>
                        <a:t>학습 시연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0070C0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 b="1">
                          <a:solidFill>
                            <a:srgbClr val="FFFFFF"/>
                          </a:solidFill>
                          <a:latin typeface="Liberation Sans"/>
                          <a:ea typeface="Noto Sans CJK KR"/>
                        </a:rPr>
                        <a:t>평가 시행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0070C0"/>
                    </a:solidFill>
                  </a:tcPr>
                </a:tc>
              </a:tr>
              <a:tr h="475488"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BC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1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200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40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ACT-4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4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200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40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ACT-8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8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200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40</a:t>
                      </a:r>
                    </a:p>
                  </a:txBody>
                  <a:tcPr marL="54864" marR="54864" marT="50800" marB="0">
                    <a:lnB>
                      <a:noFill/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l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ACT-16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16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200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 tIns="50800" lIns="0" rIns="0" bIns="0">
                      <a:noAutofit/>
                    </a:bodyPr>
                    <a:lstStyle/>
                    <a:p>
                      <a:pPr lvl="0" indent="0" marL="0" algn="r">
                        <a:lnSpc>
                          <a:spcPct val="100000"/>
                        </a:lnSpc>
                        <a:spcAft>
                          <a:spcPts val="0"/>
                        </a:spcAft>
                        <a:buNone/>
                        <a:def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defRPr>
                      </a:pPr>
                      <a:r>
                        <a:rPr sz="1800">
                          <a:solidFill>
                            <a:srgbClr val="000000"/>
                          </a:solidFill>
                          <a:latin typeface="Liberation Sans"/>
                          <a:ea typeface="Noto Sans CJK KR"/>
                        </a:rPr>
                        <a:t>40</a:t>
                      </a:r>
                    </a:p>
                  </a:txBody>
                  <a:tcPr marL="54864" marR="54864" marT="50800" marB="0">
                    <a:lnB w="12700">
                      <a:solidFill>
                        <a:srgbClr val="0070C0"/>
                      </a:solidFill>
                    </a:lnB>
                    <a:lnT>
                      <a:noFill/>
                    </a:lnT>
                    <a:lnR>
                      <a:noFill/>
                    </a:lnR>
                    <a:lnL>
                      <a:noFill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학습 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청크 단위 L1 손실로 k개 행동을 한 번에 예측한다</a:t>
            </a:r>
          </a:p>
        </p:txBody>
      </p:sp>
      <p:sp xmlns:a14="http://schemas.microsoft.com/office/drawing/2010/main">
        <p:nvSpPr>
          <p:cNvPr id="4" name="RVLAB content"/>
          <p:cNvSpPr/>
          <p:nvPr/>
        </p:nvSpPr>
        <p:spPr>
          <a:xfrm>
            <a:off x="530352" y="1493520"/>
            <a:ext cx="8311896" cy="877824"/>
          </a:xfrm>
        </p:spPr>
        <p:txBody>
          <a:bodyPr wrap="square" tIns="50800" lIns="0" rIns="0" bIns="0">
            <a:noAutofit/>
          </a:bodyPr>
          <a:lstStyle/>
          <a:p>
            <a:pPr lvl="0" indent="0" marL="0" algn="l">
              <a:lnSpc>
                <a:spcPct val="100000"/>
              </a:lnSpc>
              <a:spcAft>
                <a:spcPts val="0"/>
              </a:spcAft>
              <a:buNone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14:m>
              <m:oMathPara xmlns:m="http://schemas.openxmlformats.org/officeDocument/2006/math">
                <m:oMathParaPr>
                  <m:jc m:val="center"/>
                </m:oMathParaPr>
                <m:oMath>
                  <m:r>
                    <m:rPr>
                      <m:scr m:val="script"/>
                      <m:sty m:val="p"/>
                    </m:rPr>
                    <m:t>L</m:t>
                  </m:r>
                  <m:r>
                    <m:rPr>
                      <m:sty m:val="p"/>
                    </m:rPr>
                    <m:t>=</m:t>
                  </m:r>
                  <m:f>
                    <m:fPr>
                      <m:type m:val="bar"/>
                    </m:fPr>
                    <m:num>
                      <m:r>
                        <m:t>1</m:t>
                      </m:r>
                    </m:num>
                    <m:den>
                      <m:r>
                        <m:t>k</m:t>
                      </m:r>
                    </m:den>
                  </m:f>
                  <m:nary>
                    <m:naryPr>
                      <m:chr m:val="∑"/>
                      <m:limLoc m:val="undOvr"/>
                      <m:subHide m:val="off"/>
                      <m:supHide m:val="off"/>
                    </m:naryPr>
                    <m:sub>
                      <m:r>
                        <m:t>j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sub>
                    <m:sup>
                      <m:r>
                        <m:t>k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1</m:t>
                      </m:r>
                    </m:sup>
                    <m:e>
                      <m:sSub>
                        <m:e>
                          <m:d>
                            <m:dPr>
                              <m:begChr m:val="∥"/>
                              <m:sepChr m:val=""/>
                              <m:endChr m:val="∥"/>
                              <m:grow/>
                            </m:dPr>
                            <m:e>
                              <m:sSub>
                                <m:e>
                                  <m:r>
                                    <m:t>a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a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t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j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m:t>1</m:t>
                          </m:r>
                        </m:sub>
                      </m:sSub>
                    </m:e>
                  </m:nary>
                </m:oMath>
              </m:oMathPara>
            </a14:m>
          </a:p>
        </p:txBody>
      </p:sp>
      <p:sp xmlns:a14="http://schemas.microsoft.com/office/drawing/2010/main">
        <p:nvSpPr>
          <p:cNvPr id="5" name="RVLAB content"/>
          <p:cNvSpPr/>
          <p:nvPr/>
        </p:nvSpPr>
        <p:spPr>
          <a:xfrm>
            <a:off x="530352" y="2590799"/>
            <a:ext cx="8311896" cy="414528"/>
          </a:xfrm>
        </p:spPr>
        <p:txBody>
          <a:bodyPr wrap="square" tIns="50800" lIns="0" rIns="0" bIns="0">
            <a:noAutofit/>
          </a:bodyPr>
          <a:lstStyle/>
          <a:p>
            <a:pPr lvl="0" indent="0" marL="0" algn="l">
              <a:lnSpc>
                <a:spcPct val="100000"/>
              </a:lnSpc>
              <a:spcAft>
                <a:spcPts val="0"/>
              </a:spcAft>
              <a:buNone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14:m>
              <m:oMath xmlns:m="http://schemas.openxmlformats.org/officeDocument/2006/math">
                <m:sSub>
                  <m:e>
                    <m:r>
                      <m:t>a</m:t>
                    </m:r>
                  </m:e>
                  <m:sub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j</m:t>
                    </m:r>
                  </m:sub>
                </m:sSub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는 시연 행동, </a:t>
            </a:r>
            <a14:m>
              <m:oMath xmlns:m="http://schemas.openxmlformats.org/officeDocument/2006/math">
                <m:sSub>
                  <m:e>
                    <m:acc>
                      <m:accPr>
                        <m:chr m:val="̂"/>
                      </m:accPr>
                      <m:e>
                        <m:r>
                          <m:t>a</m:t>
                        </m:r>
                      </m:e>
                    </m:acc>
                  </m:e>
                  <m:sub>
                    <m:r>
                      <m:t>t</m:t>
                    </m:r>
                    <m:r>
                      <m:rPr>
                        <m:sty m:val="p"/>
                      </m:rPr>
                      <m:t>+</m:t>
                    </m:r>
                    <m:r>
                      <m:t>j</m:t>
                    </m:r>
                  </m:sub>
                </m:sSub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는 예측 행동, </a:t>
            </a:r>
            <a14:m>
              <m:oMath xmlns:m="http://schemas.openxmlformats.org/officeDocument/2006/math">
                <m:r>
                  <m:t>k</m:t>
                </m:r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는 청크 길이다.</a:t>
            </a:r>
          </a:p>
        </p:txBody>
      </p:sp>
      <p:sp xmlns:a14="http://schemas.microsoft.com/office/drawing/2010/main">
        <p:nvSpPr>
          <p:cNvPr id="6" name="RVLAB content"/>
          <p:cNvSpPr/>
          <p:nvPr/>
        </p:nvSpPr>
        <p:spPr>
          <a:xfrm>
            <a:off x="530352" y="3224783"/>
            <a:ext cx="8311896" cy="496824"/>
          </a:xfrm>
        </p:spPr>
        <p:txBody>
          <a:bodyPr wrap="square" tIns="50800" lIns="0" rIns="0" bIns="0">
            <a:noAutofit/>
          </a:bodyPr>
          <a:lstStyle/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14:m>
              <m:oMath xmlns:m="http://schemas.openxmlformats.org/officeDocument/2006/math">
                <m:r>
                  <m:t>k</m:t>
                </m:r>
                <m:r>
                  <m:rPr>
                    <m:sty m:val="p"/>
                  </m:rPr>
                  <m:t>=</m:t>
                </m:r>
                <m:r>
                  <m:t>1</m:t>
                </m:r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이면 한 단계씩 예측하는 BC와 같다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Results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결과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성공률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합성 평가에서 k = 8의 성공률이 가장 높았다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035040"/>
            <a:ext cx="8311896" cy="384048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출처: sources/eval.csv (합성 자료, 조건별 40회)</a:t>
            </a:r>
          </a:p>
        </p:txBody>
      </p:sp>
      <p:pic>
        <p:nvPicPr>
          <p:cNvPr id="5" name="Picture 4" descr="success-by-chu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562" y="1493520"/>
            <a:ext cx="7125474" cy="4139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5632703"/>
            <a:ext cx="8311896" cy="329184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그림 1. 청크 길이별 성공률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성공률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k = 16의 하락은 아직 원인을 확인하지 못했다</a:t>
            </a:r>
          </a:p>
        </p:txBody>
      </p:sp>
      <p:sp>
        <p:nvSpPr>
          <p:cNvPr id="4" name="RVLAB content"/>
          <p:cNvSpPr/>
          <p:nvPr/>
        </p:nvSpPr>
        <p:spPr>
          <a:xfrm>
            <a:off x="530352" y="1493520"/>
            <a:ext cx="4046220" cy="414528"/>
          </a:xfrm>
        </p:spPr>
        <p:txBody>
          <a:bodyPr wrap="square" tIns="50800" lIns="0" rIns="0" bIns="0">
            <a:noAutofit/>
          </a:bodyPr>
          <a:lstStyle/>
          <a:p>
            <a:pPr lvl="0" indent="0" marL="0" algn="l">
              <a:lnSpc>
                <a:spcPct val="100000"/>
              </a:lnSpc>
              <a:spcAft>
                <a:spcPts val="0"/>
              </a:spcAft>
              <a:buNone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b="1" sz="2000">
                <a:solidFill>
                  <a:srgbClr val="000000"/>
                </a:solidFill>
                <a:latin typeface="Liberation Sans"/>
                <a:ea typeface="Noto Sans CJK KR"/>
              </a:rPr>
              <a:t>관찰</a:t>
            </a:r>
          </a:p>
        </p:txBody>
      </p:sp>
      <p:sp>
        <p:nvSpPr>
          <p:cNvPr id="5" name="RVLAB content"/>
          <p:cNvSpPr/>
          <p:nvPr/>
        </p:nvSpPr>
        <p:spPr>
          <a:xfrm>
            <a:off x="530352" y="2127504"/>
            <a:ext cx="4046220" cy="1258824"/>
          </a:xfrm>
        </p:spPr>
        <p:txBody>
          <a:bodyPr wrap="square" tIns="50800" lIns="0" rIns="0" bIns="0">
            <a:noAutofit/>
          </a:bodyPr>
          <a:lstStyle/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성공 29회(k = 8) → 24회(k = 16)</a:t>
            </a:r>
          </a:p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표본은 조건별 40회뿐이다</a:t>
            </a:r>
          </a:p>
        </p:txBody>
      </p:sp>
      <p:sp>
        <p:nvSpPr>
          <p:cNvPr id="6" name="RVLAB content"/>
          <p:cNvSpPr/>
          <p:nvPr/>
        </p:nvSpPr>
        <p:spPr>
          <a:xfrm>
            <a:off x="4796028" y="1493520"/>
            <a:ext cx="4046220" cy="414528"/>
          </a:xfrm>
        </p:spPr>
        <p:txBody>
          <a:bodyPr wrap="square" tIns="50800" lIns="0" rIns="0" bIns="0">
            <a:noAutofit/>
          </a:bodyPr>
          <a:lstStyle/>
          <a:p>
            <a:pPr lvl="0" indent="0" marL="0" algn="l">
              <a:lnSpc>
                <a:spcPct val="100000"/>
              </a:lnSpc>
              <a:spcAft>
                <a:spcPts val="0"/>
              </a:spcAft>
              <a:buNone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b="1" sz="2000">
                <a:solidFill>
                  <a:srgbClr val="000000"/>
                </a:solidFill>
                <a:latin typeface="Liberation Sans"/>
                <a:ea typeface="Noto Sans CJK KR"/>
              </a:rPr>
              <a:t>가설과 확인 방법</a:t>
            </a:r>
          </a:p>
        </p:txBody>
      </p:sp>
      <p:sp>
        <p:nvSpPr>
          <p:cNvPr id="7" name="RVLAB content"/>
          <p:cNvSpPr/>
          <p:nvPr/>
        </p:nvSpPr>
        <p:spPr>
          <a:xfrm>
            <a:off x="4796028" y="2127504"/>
            <a:ext cx="4046220" cy="911352"/>
          </a:xfrm>
        </p:spPr>
        <p:txBody>
          <a:bodyPr wrap="square" tIns="50800" lIns="0" rIns="0" bIns="0">
            <a:noAutofit/>
          </a:bodyPr>
          <a:lstStyle/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긴 청크가 접촉 후 보정을 늦춘다</a:t>
            </a:r>
          </a:p>
          <a:p>
            <a:pPr lvl="1" algn="l" marL="457200" indent="-164592">
              <a:lnSpc>
                <a:spcPct val="100000"/>
              </a:lnSpc>
              <a:spcAft>
                <a:spcPts val="800"/>
              </a:spcAft>
              <a:buChar char="–"/>
              <a:defRPr sz="18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1800">
                <a:solidFill>
                  <a:srgbClr val="000000"/>
                </a:solidFill>
                <a:latin typeface="Liberation Sans"/>
                <a:ea typeface="Noto Sans CJK KR"/>
              </a:rPr>
              <a:t>temporal ensemble 유무로 비교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실패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k = 8의 실패 11회 중 6회가 파지 단계에서 났다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035040"/>
            <a:ext cx="8311896" cy="384048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출처: sources/failures.csv (합성 자료)</a:t>
            </a:r>
          </a:p>
        </p:txBody>
      </p:sp>
      <p:pic>
        <p:nvPicPr>
          <p:cNvPr id="5" name="Picture 4" descr="failure-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" y="2143568"/>
            <a:ext cx="4046220" cy="28390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30352" y="5632703"/>
            <a:ext cx="4046220" cy="329184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그림 2. 실패 유형별 횟수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4796028" y="1493520"/>
            <a:ext cx="4046220" cy="4139183"/>
          </a:xfrm>
          <a:prstGeom prst="rect">
            <a:avLst/>
          </a:prstGeom>
          <a:noFill/>
          <a:ln w="1905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0" lIns="0" r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70C0"/>
                </a:solidFill>
                <a:latin typeface="Liberation Sans"/>
                <a:ea typeface="Noto Sans CJK KR"/>
              </a:rPr>
              <a:t>그림 필요: ACT-8 실패 장면 3장(파지·정렬·놓기). 연구자가 평가 영상에서 캡처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70C0"/>
                </a:solidFill>
                <a:latin typeface="Liberation Sans"/>
                <a:ea typeface="Noto Sans CJK KR"/>
              </a:rPr>
              <a:t>figures/failure-frames.png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6028" y="5632703"/>
            <a:ext cx="4046220" cy="329184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00000"/>
                </a:solidFill>
                <a:latin typeface="Liberation Sans"/>
                <a:ea typeface="Noto Sans CJK KR"/>
              </a:rPr>
              <a:t>그림 3. 실패 장면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다음 계획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다음 실험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파지 구간 시연을 보강해 같은 조건으로 다시 평가한다</a:t>
            </a:r>
          </a:p>
        </p:txBody>
      </p:sp>
      <p:sp xmlns:a14="http://schemas.microsoft.com/office/drawing/2010/main">
        <p:nvSpPr>
          <p:cNvPr id="4" name="RVLAB content"/>
          <p:cNvSpPr/>
          <p:nvPr/>
        </p:nvSpPr>
        <p:spPr>
          <a:xfrm>
            <a:off x="530352" y="1493520"/>
            <a:ext cx="8311896" cy="1386840"/>
          </a:xfrm>
        </p:spPr>
        <p:txBody>
          <a:bodyPr wrap="square" tIns="50800" lIns="0" rIns="0" bIns="0">
            <a:noAutofit/>
          </a:bodyPr>
          <a:lstStyle/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파지 직전 구간 시연 50개를 추가로 수집한다</a:t>
            </a:r>
          </a:p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14:m>
              <m:oMath xmlns:m="http://schemas.openxmlformats.org/officeDocument/2006/math">
                <m:r>
                  <m:t>k</m:t>
                </m:r>
                <m:r>
                  <m:rPr>
                    <m:sty m:val="p"/>
                  </m:rPr>
                  <m:t>=</m:t>
                </m:r>
                <m:r>
                  <m:t>8</m:t>
                </m:r>
              </m:oMath>
            </a14:m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에서 temporal ensemble 유무를 비교한다</a:t>
            </a:r>
          </a:p>
          <a:p>
            <a:pPr lvl="0" algn="l" marL="228600" indent="-164592">
              <a:lnSpc>
                <a:spcPct val="100000"/>
              </a:lnSpc>
              <a:spcAft>
                <a:spcPts val="800"/>
              </a:spcAft>
              <a:buChar char="•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평가 시행을 조건별 100회로 늘린다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논의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1752" y="905256"/>
            <a:ext cx="8540496" cy="478536"/>
          </a:xfrm>
          <a:prstGeom prst="rect">
            <a:avLst/>
          </a:prstGeom>
          <a:noFill/>
        </p:spPr>
        <p:txBody>
          <a:bodyPr wrap="square" tIns="50800" bIns="0" lIns="0" rIns="0">
            <a:noAutofit/>
          </a:bodyPr>
          <a:lstStyle/>
          <a:p>
            <a:pPr algn="l" marL="228600" indent="-152400">
              <a:lnSpc>
                <a:spcPct val="100000"/>
              </a:lnSpc>
              <a:spcBef>
                <a:spcPts val="0"/>
              </a:spcBef>
              <a:spcAft>
                <a:spcPts val="1400"/>
              </a:spcAft>
              <a:buChar char="▪"/>
            </a:pPr>
            <a:r>
              <a:rPr sz="2400" b="0">
                <a:solidFill>
                  <a:srgbClr val="000000"/>
                </a:solidFill>
                <a:latin typeface="Liberation Sans"/>
                <a:ea typeface="Noto Sans CJK KR"/>
              </a:rPr>
              <a:t>교수님께 두 가지 우선순위를 확인받고 싶다</a:t>
            </a:r>
          </a:p>
        </p:txBody>
      </p:sp>
      <p:sp>
        <p:nvSpPr>
          <p:cNvPr id="4" name="RVLAB content"/>
          <p:cNvSpPr/>
          <p:nvPr/>
        </p:nvSpPr>
        <p:spPr>
          <a:xfrm>
            <a:off x="530352" y="1493520"/>
            <a:ext cx="8311896" cy="941832"/>
          </a:xfrm>
        </p:spPr>
        <p:txBody>
          <a:bodyPr wrap="square" tIns="50800" lIns="0" rIns="0" bIns="0">
            <a:noAutofit/>
          </a:bodyPr>
          <a:lstStyle/>
          <a:p>
            <a:pPr lvl="0" indent="-320040" marL="320040" algn="l">
              <a:lnSpc>
                <a:spcPct val="100000"/>
              </a:lnSpc>
              <a:spcAft>
                <a:spcPts val="0"/>
              </a:spcAft>
              <a:buAutoNum type="arabicPeriod" startAt="1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시연 보강과 평가 확대 중 무엇을 먼저 할지</a:t>
            </a:r>
          </a:p>
          <a:p>
            <a:pPr lvl="0" indent="-320040" marL="320040" algn="l">
              <a:lnSpc>
                <a:spcPct val="100000"/>
              </a:lnSpc>
              <a:spcAft>
                <a:spcPts val="0"/>
              </a:spcAft>
              <a:buAutoNum type="arabicPeriod" startAt="2"/>
              <a:defRPr sz="2000">
                <a:solidFill>
                  <a:srgbClr val="000000"/>
                </a:solidFill>
                <a:latin typeface="Liberation Sans"/>
                <a:ea typeface="Noto Sans CJK KR"/>
              </a:defRPr>
            </a:pPr>
            <a:r>
              <a:rPr sz="2000">
                <a:solidFill>
                  <a:srgbClr val="000000"/>
                </a:solidFill>
                <a:latin typeface="Liberation Sans"/>
                <a:ea typeface="Noto Sans CJK KR"/>
              </a:rPr>
              <a:t>실제 로봇 평가로 넘어갈 성공률 기준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11480" y="3081528"/>
            <a:ext cx="8311896" cy="521207"/>
          </a:xfrm>
        </p:spPr>
        <p:txBody>
          <a:bodyPr/>
          <a:lstStyle/>
          <a:p>
            <a:r>
              <a:t>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/>
</file>